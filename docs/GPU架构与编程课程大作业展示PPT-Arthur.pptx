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2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48"/>
    <p:restoredTop sz="94422"/>
  </p:normalViewPr>
  <p:slideViewPr>
    <p:cSldViewPr snapToGrid="0">
      <p:cViewPr varScale="1">
        <p:scale>
          <a:sx n="121" d="100"/>
          <a:sy n="121" d="100"/>
        </p:scale>
        <p:origin x="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55ABD-29E5-5149-9D3F-9C55B9DC1CF8}" type="datetimeFigureOut">
              <a:rPr kumimoji="1" lang="zh-CN" altLang="en-US" smtClean="0"/>
              <a:t>2026/1/10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9A97-F390-DC4F-A55E-73DB46913E9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7270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F09A97-F390-DC4F-A55E-73DB46913E9E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8323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F09A97-F390-DC4F-A55E-73DB46913E9E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2457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0D79C-5A2C-F884-36F1-B881CF1CB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1B24C0-1216-3ADC-136F-27FFDC6E6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F1E347-4D8D-B0CC-0632-A6BD185F0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71A7-6D63-504A-8B5B-E1BA7A623D0E}" type="datetimeFigureOut">
              <a:rPr kumimoji="1" lang="zh-CN" altLang="en-US" smtClean="0"/>
              <a:t>2026/1/10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CA3DF8-A201-CD0F-DC8F-E80668FB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56E906-0E44-5228-078D-308C15C9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67F4-E9E8-2541-855B-9DF1BCAFE0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9932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A3BBF-BDC9-06F7-8B1A-DF4D0AE3B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74B245-0004-70DF-D5C6-67EC45E48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A2F8EE-2E5E-B9AB-C962-28D8C519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71A7-6D63-504A-8B5B-E1BA7A623D0E}" type="datetimeFigureOut">
              <a:rPr kumimoji="1" lang="zh-CN" altLang="en-US" smtClean="0"/>
              <a:t>2026/1/10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5FCF5C-F08A-C150-5501-7520FC5B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CFDF9F-075C-D351-5EBF-DCA72A55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67F4-E9E8-2541-855B-9DF1BCAFE0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6836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5D4BCE-270B-EEE9-88FF-80511F66C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4DDC33-6E4C-FDF5-BA83-A7D574D25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A8620E-4F85-27D7-FB61-B6B624C37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71A7-6D63-504A-8B5B-E1BA7A623D0E}" type="datetimeFigureOut">
              <a:rPr kumimoji="1" lang="zh-CN" altLang="en-US" smtClean="0"/>
              <a:t>2026/1/10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65FCC0-90ED-CD89-91D7-777567EA9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570D16-B669-6062-28B2-023DFE68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67F4-E9E8-2541-855B-9DF1BCAFE0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32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B4440-8EF0-CF18-93DD-6AD3C1044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F5DC01-577B-EFC9-6FD0-793D064213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79C80C-8E17-D08C-7E7E-BF0B598D4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2522DC-A562-71AD-8D74-F360FE39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71A7-6D63-504A-8B5B-E1BA7A623D0E}" type="datetimeFigureOut">
              <a:rPr kumimoji="1" lang="zh-CN" altLang="en-US" smtClean="0"/>
              <a:t>2026/1/10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3C5BE7-B5CB-C4ED-1231-E178E5F4E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7CC507-F713-1A2B-BB14-BCA9C735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67F4-E9E8-2541-855B-9DF1BCAFE0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173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15A5D-5452-384A-24C1-4D831959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04BEE7-540E-2E22-1CC2-B20E82655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9A885F-E2E9-0551-ECBF-0E3F907DF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4E250D-07D3-4B07-3C93-DEE7E5025F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2DCBF6-8943-E05C-CC48-39903F74D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47A774-7EB0-D7FA-6159-6EB71312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71A7-6D63-504A-8B5B-E1BA7A623D0E}" type="datetimeFigureOut">
              <a:rPr kumimoji="1" lang="zh-CN" altLang="en-US" smtClean="0"/>
              <a:t>2026/1/10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939DB92-DF5A-372D-73CE-7F473B48A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C7ADF2-E2C8-8CC8-8C45-D72866117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67F4-E9E8-2541-855B-9DF1BCAFE0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2365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A65FD9-36CE-CCF9-4F81-08DB7FD8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2F3054-C0D0-FD9D-CA6F-7CF269440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71A7-6D63-504A-8B5B-E1BA7A623D0E}" type="datetimeFigureOut">
              <a:rPr kumimoji="1" lang="zh-CN" altLang="en-US" smtClean="0"/>
              <a:t>2026/1/10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795CFA-D248-69AF-6B2A-02C227FC1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5A672C-6DB0-26B9-159F-5F645DFA1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67F4-E9E8-2541-855B-9DF1BCAFE0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2472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3A6ABA-DA00-9086-EFC1-F94720CC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71A7-6D63-504A-8B5B-E1BA7A623D0E}" type="datetimeFigureOut">
              <a:rPr kumimoji="1" lang="zh-CN" altLang="en-US" smtClean="0"/>
              <a:t>2026/1/10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6EA2CF-ADBB-AD64-D822-A3545784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0CCD8A-A5D3-21B2-3008-948997923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67F4-E9E8-2541-855B-9DF1BCAFE0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687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61FDF-01F3-D8D9-3B6E-D07743C60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843E31-B7BC-7E8E-330E-71C653891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5D6DCC-582F-18AB-F20D-60EB2EB91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61F95E-978F-F3CE-F210-DF28ED11E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71A7-6D63-504A-8B5B-E1BA7A623D0E}" type="datetimeFigureOut">
              <a:rPr kumimoji="1" lang="zh-CN" altLang="en-US" smtClean="0"/>
              <a:t>2026/1/10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370789-DBE6-7E6E-1E56-472F287FC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D31962-C06F-6C77-BCF9-DDF21153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67F4-E9E8-2541-855B-9DF1BCAFE0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330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B42DB-D3D0-1C49-74D6-13B75FEB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A3DFA3-FAA6-C476-0059-39221C15B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8B734D-94FD-C8AF-5EF9-5BCC0012D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40A62A-67A2-3A9B-7093-097EC864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71A7-6D63-504A-8B5B-E1BA7A623D0E}" type="datetimeFigureOut">
              <a:rPr kumimoji="1" lang="zh-CN" altLang="en-US" smtClean="0"/>
              <a:t>2026/1/10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604FBB-F3BE-D472-0D7A-FAAE117B4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B3C2B1-A631-69F4-8BD6-C8B4D29C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67F4-E9E8-2541-855B-9DF1BCAFE0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4028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44C3E-D2A8-29BC-ABE3-8F2C52FF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175B6C-1F6E-640A-65FA-FCC2A305F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98591-65BB-4854-CB17-64EAEFAE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71A7-6D63-504A-8B5B-E1BA7A623D0E}" type="datetimeFigureOut">
              <a:rPr kumimoji="1" lang="zh-CN" altLang="en-US" smtClean="0"/>
              <a:t>2026/1/10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41EC0-3F39-4159-6914-F5C7E6A6C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A8273A-FF14-9B81-6C72-44C9B5745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67F4-E9E8-2541-855B-9DF1BCAFE0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945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9035FA-AC34-66EF-E68B-8F778BF19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0F50F4-9AC8-AE0B-B106-2B889FCD8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089A43-136C-27E7-887B-56D8B0806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71A7-6D63-504A-8B5B-E1BA7A623D0E}" type="datetimeFigureOut">
              <a:rPr kumimoji="1" lang="zh-CN" altLang="en-US" smtClean="0"/>
              <a:t>2026/1/10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7DF1E1-2FF8-7196-C0E2-C96D1226F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9A6CFB-88B5-ADD4-A9F8-908D71BCF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67F4-E9E8-2541-855B-9DF1BCAFE0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088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CC12F5-8825-38BD-4CA6-423F5B6E1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5D95AC-4C04-7FDB-F615-F42832ABF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3BF385-C766-F892-7BA8-EB5276679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771A7-6D63-504A-8B5B-E1BA7A623D0E}" type="datetimeFigureOut">
              <a:rPr kumimoji="1" lang="zh-CN" altLang="en-US" smtClean="0"/>
              <a:t>2026/1/10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5AE55E-7544-AC2B-D739-64A3AC0D8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6EA512-088C-3795-0EE0-8BDCBA527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D67F4-E9E8-2541-855B-9DF1BCAFE0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830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形状, 矩形&#10;&#10;AI 生成的内容可能不正确。">
            <a:extLst>
              <a:ext uri="{FF2B5EF4-FFF2-40B4-BE49-F238E27FC236}">
                <a16:creationId xmlns:a16="http://schemas.microsoft.com/office/drawing/2014/main" id="{E1156479-257F-7E9A-9B25-35B7C1F67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11" y="342900"/>
            <a:ext cx="11137378" cy="140423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D78E663-E48B-1090-8434-39A1BB2E87A4}"/>
              </a:ext>
            </a:extLst>
          </p:cNvPr>
          <p:cNvSpPr txBox="1"/>
          <p:nvPr/>
        </p:nvSpPr>
        <p:spPr>
          <a:xfrm>
            <a:off x="715616" y="1490008"/>
            <a:ext cx="103764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" sz="4800" b="1" dirty="0"/>
              <a:t>一个</a:t>
            </a:r>
            <a:r>
              <a:rPr lang="zh-CN" altLang="en-US" sz="4800" b="1" dirty="0"/>
              <a:t>简单的</a:t>
            </a:r>
            <a:r>
              <a:rPr lang="en" altLang="zh-CN" sz="4800" b="1" dirty="0"/>
              <a:t>GPU</a:t>
            </a:r>
            <a:r>
              <a:rPr lang="zh-CN" altLang="en-US" sz="4800" b="1" dirty="0"/>
              <a:t>学习助手</a:t>
            </a:r>
            <a:br>
              <a:rPr lang="en-US" altLang="zh-CN" dirty="0"/>
            </a:br>
            <a:endParaRPr lang="en-US" altLang="zh-CN" dirty="0"/>
          </a:p>
          <a:p>
            <a:r>
              <a:rPr lang="en-US" altLang="zh-CN" sz="3600" dirty="0"/>
              <a:t>GPU</a:t>
            </a:r>
            <a:r>
              <a:rPr lang="zh-CN" altLang="en-US" sz="3600" dirty="0"/>
              <a:t>架构与编程课程 大作业展示</a:t>
            </a:r>
            <a:endParaRPr lang="en-US" altLang="zh-CN" sz="2400" dirty="0"/>
          </a:p>
          <a:p>
            <a:pPr algn="r"/>
            <a:endParaRPr lang="en-US" altLang="zh-CN" dirty="0"/>
          </a:p>
          <a:p>
            <a:pPr algn="r"/>
            <a:endParaRPr lang="en-US" altLang="zh-CN" dirty="0"/>
          </a:p>
          <a:p>
            <a:pPr algn="r"/>
            <a:endParaRPr lang="en-US" altLang="zh-CN" dirty="0"/>
          </a:p>
          <a:p>
            <a:pPr algn="r"/>
            <a:endParaRPr lang="en-US" altLang="zh-CN" dirty="0"/>
          </a:p>
          <a:p>
            <a:pPr algn="r"/>
            <a:endParaRPr lang="en-US" altLang="zh-CN" dirty="0"/>
          </a:p>
          <a:p>
            <a:pPr algn="ctr"/>
            <a:r>
              <a:rPr lang="en-US" altLang="zh-CN" sz="2400"/>
              <a:t>Arthur</a:t>
            </a:r>
            <a:br>
              <a:rPr lang="en-US" altLang="zh-CN" sz="2400" dirty="0"/>
            </a:br>
            <a:r>
              <a:rPr lang="zh-CN" altLang="en-US" sz="2400" dirty="0"/>
              <a:t>计算技术研究所</a:t>
            </a:r>
            <a:endParaRPr lang="en-US" altLang="zh-CN" sz="2400" dirty="0"/>
          </a:p>
          <a:p>
            <a:pPr algn="ctr"/>
            <a:r>
              <a:rPr lang="zh-CN" altLang="en-US" sz="2400" dirty="0"/>
              <a:t>指导教师：赵地老师</a:t>
            </a:r>
            <a:endParaRPr lang="en-US" altLang="zh-CN" sz="2400" dirty="0"/>
          </a:p>
          <a:p>
            <a:pPr algn="ctr"/>
            <a:r>
              <a:rPr lang="en-US" altLang="zh-CN" sz="2400" dirty="0"/>
              <a:t>2025</a:t>
            </a:r>
            <a:r>
              <a:rPr lang="zh-CN" altLang="en-US" sz="2400" dirty="0"/>
              <a:t>年</a:t>
            </a:r>
            <a:r>
              <a:rPr lang="en-US" altLang="zh-CN" sz="2400" dirty="0"/>
              <a:t>1</a:t>
            </a:r>
            <a:r>
              <a:rPr lang="zh-CN" altLang="en-US" sz="2400" dirty="0"/>
              <a:t>月</a:t>
            </a:r>
            <a:r>
              <a:rPr lang="en-US" altLang="zh-CN" sz="2400" dirty="0"/>
              <a:t>8</a:t>
            </a:r>
            <a:r>
              <a:rPr lang="zh-CN" altLang="en-US" sz="2400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403693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F31CC-73CD-4876-383C-AD015E821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形状, 矩形&#10;&#10;AI 生成的内容可能不正确。">
            <a:extLst>
              <a:ext uri="{FF2B5EF4-FFF2-40B4-BE49-F238E27FC236}">
                <a16:creationId xmlns:a16="http://schemas.microsoft.com/office/drawing/2014/main" id="{08466139-148E-C9FC-0DC4-7DC6213DF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8" y="26642"/>
            <a:ext cx="11137378" cy="14042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17FF91-2530-089A-E3D9-EA4E0B9EC689}"/>
              </a:ext>
            </a:extLst>
          </p:cNvPr>
          <p:cNvSpPr txBox="1"/>
          <p:nvPr/>
        </p:nvSpPr>
        <p:spPr>
          <a:xfrm>
            <a:off x="674414" y="4647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目录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B7BFE62-D5FA-4916-24C8-4E01828348B3}"/>
              </a:ext>
            </a:extLst>
          </p:cNvPr>
          <p:cNvSpPr txBox="1"/>
          <p:nvPr/>
        </p:nvSpPr>
        <p:spPr>
          <a:xfrm>
            <a:off x="776014" y="1549131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Ø"/>
            </a:pPr>
            <a:r>
              <a:rPr lang="zh-CN" altLang="en-US" sz="3600" dirty="0"/>
              <a:t>系统概述</a:t>
            </a:r>
            <a:endParaRPr lang="en-US" altLang="zh-CN" sz="3600" dirty="0"/>
          </a:p>
          <a:p>
            <a:pPr marL="571500" indent="-571500">
              <a:buFont typeface="Wingdings" pitchFamily="2" charset="2"/>
              <a:buChar char="Ø"/>
            </a:pPr>
            <a:r>
              <a:rPr lang="zh-CN" altLang="en-US" sz="3600" dirty="0"/>
              <a:t>模型选择</a:t>
            </a:r>
            <a:endParaRPr lang="en-US" altLang="zh-CN" sz="3600" dirty="0"/>
          </a:p>
          <a:p>
            <a:pPr marL="571500" indent="-571500">
              <a:buFont typeface="Wingdings" pitchFamily="2" charset="2"/>
              <a:buChar char="Ø"/>
            </a:pPr>
            <a:r>
              <a:rPr lang="zh-CN" altLang="en-US" sz="3600" dirty="0"/>
              <a:t>数据集构建</a:t>
            </a:r>
            <a:endParaRPr lang="en-US" altLang="zh-CN" sz="3600" dirty="0"/>
          </a:p>
          <a:p>
            <a:pPr marL="571500" indent="-571500">
              <a:buFont typeface="Wingdings" pitchFamily="2" charset="2"/>
              <a:buChar char="Ø"/>
            </a:pPr>
            <a:r>
              <a:rPr lang="zh-CN" altLang="en-US" sz="3600" dirty="0"/>
              <a:t>微调</a:t>
            </a:r>
            <a:endParaRPr lang="en-US" altLang="zh-CN" sz="3600" dirty="0"/>
          </a:p>
          <a:p>
            <a:pPr marL="571500" indent="-571500">
              <a:buFont typeface="Wingdings" pitchFamily="2" charset="2"/>
              <a:buChar char="Ø"/>
            </a:pPr>
            <a:r>
              <a:rPr lang="zh-CN" altLang="en-US" sz="3600" dirty="0"/>
              <a:t>量化</a:t>
            </a:r>
            <a:endParaRPr lang="en-US" altLang="zh-CN" sz="3600" dirty="0"/>
          </a:p>
          <a:p>
            <a:pPr marL="571500" indent="-571500">
              <a:buFont typeface="Wingdings" pitchFamily="2" charset="2"/>
              <a:buChar char="Ø"/>
            </a:pPr>
            <a:r>
              <a:rPr lang="en-US" altLang="zh-CN" sz="3600" dirty="0"/>
              <a:t>RAG</a:t>
            </a:r>
          </a:p>
          <a:p>
            <a:pPr marL="571500" indent="-571500">
              <a:buFont typeface="Wingdings" pitchFamily="2" charset="2"/>
              <a:buChar char="Ø"/>
            </a:pPr>
            <a:r>
              <a:rPr lang="en-US" altLang="zh-CN" sz="3600" dirty="0" err="1"/>
              <a:t>vLLM</a:t>
            </a:r>
            <a:endParaRPr lang="en-US" altLang="zh-CN" sz="3600" dirty="0"/>
          </a:p>
          <a:p>
            <a:pPr marL="571500" indent="-571500">
              <a:buFont typeface="Wingdings" pitchFamily="2" charset="2"/>
              <a:buChar char="Ø"/>
            </a:pPr>
            <a:r>
              <a:rPr lang="zh-CN" altLang="en-US" sz="3600" dirty="0"/>
              <a:t>展示</a:t>
            </a:r>
          </a:p>
        </p:txBody>
      </p:sp>
    </p:spTree>
    <p:extLst>
      <p:ext uri="{BB962C8B-B14F-4D97-AF65-F5344CB8AC3E}">
        <p14:creationId xmlns:p14="http://schemas.microsoft.com/office/powerpoint/2010/main" val="2957465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形状, 矩形&#10;&#10;AI 生成的内容可能不正确。">
            <a:extLst>
              <a:ext uri="{FF2B5EF4-FFF2-40B4-BE49-F238E27FC236}">
                <a16:creationId xmlns:a16="http://schemas.microsoft.com/office/drawing/2014/main" id="{3B151395-268C-98E8-FB82-838726BBA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8" y="26642"/>
            <a:ext cx="11137378" cy="14042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F23BB2F-92C6-3761-A075-5D63B8C43C4F}"/>
              </a:ext>
            </a:extLst>
          </p:cNvPr>
          <p:cNvSpPr txBox="1"/>
          <p:nvPr/>
        </p:nvSpPr>
        <p:spPr>
          <a:xfrm>
            <a:off x="674414" y="4647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/>
              <a:t>系统概述</a:t>
            </a:r>
            <a:endParaRPr lang="zh-CN" altLang="en-US" sz="36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A6DFB19-CFFA-9526-93D4-489F265AB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015" y="1635514"/>
            <a:ext cx="5659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任务目标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：构建GPU架构与编程领域的智能问答系统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80BE948-1FDD-CD27-2E69-D60E57175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615" y="3088649"/>
            <a:ext cx="4291286" cy="2133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400" b="1" dirty="0">
                <a:solidFill>
                  <a:srgbClr val="333333"/>
                </a:solidFill>
                <a:latin typeface="Arial" panose="020B0604020202020204" pitchFamily="34" charset="0"/>
              </a:rPr>
              <a:t>核心技术栈</a:t>
            </a:r>
            <a:r>
              <a:rPr lang="zh-CN" altLang="en-US" sz="2400" b="1" dirty="0">
                <a:solidFill>
                  <a:srgbClr val="333333"/>
                </a:solidFill>
                <a:latin typeface="Arial" panose="020B0604020202020204" pitchFamily="34" charset="0"/>
              </a:rPr>
              <a:t>：</a:t>
            </a:r>
            <a:endParaRPr lang="en-US" altLang="zh-CN" sz="2400" b="1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zh-CN" sz="1600" b="1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基座模型：Qwen</a:t>
            </a: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3</a:t>
            </a: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-0.</a:t>
            </a: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6</a:t>
            </a: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微调框架：Unsloth (SFT + DPO两阶段)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推理引擎：vLLM (Continuous Batching)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检索增强：多索引RAG + FAISS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1B4D0CBD-D97A-E065-14FE-F59CE3356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985" y="1226079"/>
            <a:ext cx="4660900" cy="563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39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91DFB-9706-7C7B-E316-C4A5042A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形状, 矩形&#10;&#10;AI 生成的内容可能不正确。">
            <a:extLst>
              <a:ext uri="{FF2B5EF4-FFF2-40B4-BE49-F238E27FC236}">
                <a16:creationId xmlns:a16="http://schemas.microsoft.com/office/drawing/2014/main" id="{D004717A-8AD7-8775-F39E-4EBBE25F9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8" y="26642"/>
            <a:ext cx="11137378" cy="14042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2C50673-7CAF-06EF-F2C7-8725981DE622}"/>
              </a:ext>
            </a:extLst>
          </p:cNvPr>
          <p:cNvSpPr txBox="1"/>
          <p:nvPr/>
        </p:nvSpPr>
        <p:spPr>
          <a:xfrm>
            <a:off x="674414" y="4647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/>
              <a:t>模型选择</a:t>
            </a:r>
            <a:endParaRPr lang="zh-CN" altLang="en-US" sz="3600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CCFFA55-776A-D162-6147-B884C71FF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414" y="1369326"/>
            <a:ext cx="4291286" cy="625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33333"/>
                </a:solidFill>
                <a:latin typeface="Arial" panose="020B0604020202020204" pitchFamily="34" charset="0"/>
              </a:rPr>
              <a:t>为什么选择</a:t>
            </a:r>
            <a:r>
              <a:rPr lang="en-US" altLang="zh-CN" sz="2400" b="1" dirty="0">
                <a:solidFill>
                  <a:srgbClr val="333333"/>
                </a:solidFill>
                <a:latin typeface="Arial" panose="020B0604020202020204" pitchFamily="34" charset="0"/>
              </a:rPr>
              <a:t>Qwen3-0.6B</a:t>
            </a:r>
            <a:endParaRPr lang="zh-CN" altLang="zh-CN" sz="2400" b="1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7D4B3DA6-5BBF-F20F-0EB8-CA82F5B83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933502"/>
            <a:ext cx="7772400" cy="2672427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465FB1BA-EF70-A91D-B3A0-7DE09D479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57" y="4659552"/>
            <a:ext cx="7364686" cy="17337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选择理由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panose="020B0604020202020204" pitchFamily="34" charset="0"/>
              </a:rPr>
              <a:t>1. </a:t>
            </a:r>
            <a:r>
              <a:rPr lang="zh-CN" altLang="en-US" dirty="0">
                <a:latin typeface="Arial" panose="020B0604020202020204" pitchFamily="34" charset="0"/>
              </a:rPr>
              <a:t>速度优先：小模型推理快，适合高吞吐评测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panose="020B0604020202020204" pitchFamily="34" charset="0"/>
              </a:rPr>
              <a:t>2. </a:t>
            </a:r>
            <a:r>
              <a:rPr lang="zh-CN" altLang="en-US" dirty="0">
                <a:latin typeface="Arial" panose="020B0604020202020204" pitchFamily="34" charset="0"/>
              </a:rPr>
              <a:t>微调友好：可完整进行</a:t>
            </a:r>
            <a:r>
              <a:rPr lang="en" altLang="zh-CN" dirty="0">
                <a:latin typeface="Arial" panose="020B0604020202020204" pitchFamily="34" charset="0"/>
              </a:rPr>
              <a:t>SFT+DPO</a:t>
            </a:r>
            <a:r>
              <a:rPr lang="zh-CN" altLang="en-US" dirty="0">
                <a:latin typeface="Arial" panose="020B0604020202020204" pitchFamily="34" charset="0"/>
              </a:rPr>
              <a:t>两阶段训练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panose="020B0604020202020204" pitchFamily="34" charset="0"/>
              </a:rPr>
              <a:t>3. </a:t>
            </a:r>
            <a:r>
              <a:rPr lang="en" altLang="zh-CN" dirty="0">
                <a:latin typeface="Arial" panose="020B0604020202020204" pitchFamily="34" charset="0"/>
              </a:rPr>
              <a:t>RAG</a:t>
            </a:r>
            <a:r>
              <a:rPr lang="zh-CN" altLang="en-US" dirty="0">
                <a:latin typeface="Arial" panose="020B0604020202020204" pitchFamily="34" charset="0"/>
              </a:rPr>
              <a:t>弥补：通过检索增强弥补模型容量限制</a:t>
            </a: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中文能力：评测数据集采用中文，</a:t>
            </a:r>
            <a:r>
              <a:rPr lang="en-US" altLang="zh-CN" dirty="0">
                <a:latin typeface="Arial" panose="020B0604020202020204" pitchFamily="34" charset="0"/>
              </a:rPr>
              <a:t>Qwen</a:t>
            </a:r>
            <a:r>
              <a:rPr lang="zh-CN" altLang="en-US" dirty="0">
                <a:latin typeface="Arial" panose="020B0604020202020204" pitchFamily="34" charset="0"/>
              </a:rPr>
              <a:t>中文能力佳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DD5CDC-CAD3-93DD-8C0B-D9A3BB05F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901" y="5005737"/>
            <a:ext cx="4100498" cy="138754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58DCC95-1A3A-5E11-588F-8F6BD22C6644}"/>
              </a:ext>
            </a:extLst>
          </p:cNvPr>
          <p:cNvSpPr txBox="1"/>
          <p:nvPr/>
        </p:nvSpPr>
        <p:spPr>
          <a:xfrm>
            <a:off x="8063843" y="4629679"/>
            <a:ext cx="24524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000" b="1" dirty="0">
                <a:solidFill>
                  <a:srgbClr val="333333"/>
                </a:solidFill>
                <a:latin typeface="Arial" panose="020B0604020202020204" pitchFamily="34" charset="0"/>
              </a:rPr>
              <a:t>评测表现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528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26167-EE07-508B-6A13-2A52DFA0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形状, 矩形&#10;&#10;AI 生成的内容可能不正确。">
            <a:extLst>
              <a:ext uri="{FF2B5EF4-FFF2-40B4-BE49-F238E27FC236}">
                <a16:creationId xmlns:a16="http://schemas.microsoft.com/office/drawing/2014/main" id="{26EDC216-06DE-4F44-CF60-10AA1E56B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8" y="26642"/>
            <a:ext cx="11137378" cy="14042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8211421-EBE4-BBB1-31A0-6ECA880B8F56}"/>
              </a:ext>
            </a:extLst>
          </p:cNvPr>
          <p:cNvSpPr txBox="1"/>
          <p:nvPr/>
        </p:nvSpPr>
        <p:spPr>
          <a:xfrm>
            <a:off x="674414" y="4647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/>
              <a:t>数据集构建</a:t>
            </a:r>
            <a:endParaRPr lang="zh-CN" altLang="en-US" sz="3600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81D8638-CBCF-7F75-98C6-C9342C871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014" y="1428823"/>
            <a:ext cx="4291286" cy="625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b="1" dirty="0">
                <a:latin typeface="Arial" panose="020B0604020202020204" pitchFamily="34" charset="0"/>
              </a:rPr>
              <a:t>数据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来源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441EC828-1BD1-2609-8020-D8B49BF32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22" y="2015426"/>
            <a:ext cx="7772400" cy="2311573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49B2B9B1-AD7D-8F73-7E7F-29BF83E04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014" y="4285812"/>
            <a:ext cx="4291286" cy="625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数据格式示例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35735737-E4AB-79E4-0B8D-F4B44C80E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14" y="4968942"/>
            <a:ext cx="7772400" cy="158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70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61C83-D409-F469-8552-316FBDC5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形状, 矩形&#10;&#10;AI 生成的内容可能不正确。">
            <a:extLst>
              <a:ext uri="{FF2B5EF4-FFF2-40B4-BE49-F238E27FC236}">
                <a16:creationId xmlns:a16="http://schemas.microsoft.com/office/drawing/2014/main" id="{293749DB-4D6B-CE50-0AFB-E7D42A2C0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8" y="26642"/>
            <a:ext cx="11137378" cy="14042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A2C71D5-5ACF-482F-CE14-265352AA5B1A}"/>
              </a:ext>
            </a:extLst>
          </p:cNvPr>
          <p:cNvSpPr txBox="1"/>
          <p:nvPr/>
        </p:nvSpPr>
        <p:spPr>
          <a:xfrm>
            <a:off x="674414" y="4647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/>
              <a:t>两阶段微调</a:t>
            </a:r>
            <a:endParaRPr lang="zh-CN" altLang="en-US" sz="3600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936D77B2-CD4D-8C22-838E-B1B8E7F43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114" y="464721"/>
            <a:ext cx="4291286" cy="625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微调策略：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SFT + DPO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F91C93-132A-A640-EA34-108185F216E3}"/>
              </a:ext>
            </a:extLst>
          </p:cNvPr>
          <p:cNvSpPr txBox="1"/>
          <p:nvPr/>
        </p:nvSpPr>
        <p:spPr>
          <a:xfrm>
            <a:off x="674414" y="12802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第一阶段：</a:t>
            </a:r>
            <a:r>
              <a:rPr lang="en-US" altLang="zh-CN" dirty="0"/>
              <a:t>SFT </a:t>
            </a:r>
            <a:r>
              <a:rPr lang="en-US" altLang="zh-CN" dirty="0" err="1"/>
              <a:t>LoRA</a:t>
            </a:r>
            <a:r>
              <a:rPr lang="zh-CN" altLang="en-US" dirty="0"/>
              <a:t>监督微调</a:t>
            </a:r>
          </a:p>
        </p:txBody>
      </p:sp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7F935665-1A47-F4D5-53D6-BC5883E57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14" y="1612398"/>
            <a:ext cx="7346027" cy="262069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848718C-77D5-BD92-261C-31E2861DA53D}"/>
              </a:ext>
            </a:extLst>
          </p:cNvPr>
          <p:cNvSpPr txBox="1"/>
          <p:nvPr/>
        </p:nvSpPr>
        <p:spPr>
          <a:xfrm>
            <a:off x="674414" y="41319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第二阶段：</a:t>
            </a:r>
            <a:r>
              <a:rPr lang="en-US" altLang="zh-CN" dirty="0"/>
              <a:t>DPO</a:t>
            </a:r>
            <a:r>
              <a:rPr lang="zh-CN" altLang="en-US" dirty="0"/>
              <a:t>偏好对齐</a:t>
            </a:r>
          </a:p>
        </p:txBody>
      </p:sp>
      <p:pic>
        <p:nvPicPr>
          <p:cNvPr id="12" name="图片 11" descr="表格&#10;&#10;AI 生成的内容可能不正确。">
            <a:extLst>
              <a:ext uri="{FF2B5EF4-FFF2-40B4-BE49-F238E27FC236}">
                <a16:creationId xmlns:a16="http://schemas.microsoft.com/office/drawing/2014/main" id="{7C618221-B552-793E-CEBF-0E84D3F37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14" y="4451751"/>
            <a:ext cx="7772400" cy="240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064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D5ACB-7760-1389-C0D5-04F2FE24A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形状, 矩形&#10;&#10;AI 生成的内容可能不正确。">
            <a:extLst>
              <a:ext uri="{FF2B5EF4-FFF2-40B4-BE49-F238E27FC236}">
                <a16:creationId xmlns:a16="http://schemas.microsoft.com/office/drawing/2014/main" id="{BD56C8FE-7B87-D60E-D040-07D5F2737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8" y="26642"/>
            <a:ext cx="11137378" cy="14042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AB7C3B3-3AD5-01D2-EC26-C8D14E46F651}"/>
              </a:ext>
            </a:extLst>
          </p:cNvPr>
          <p:cNvSpPr txBox="1"/>
          <p:nvPr/>
        </p:nvSpPr>
        <p:spPr>
          <a:xfrm>
            <a:off x="674414" y="4647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/>
              <a:t>量化决策</a:t>
            </a:r>
            <a:endParaRPr lang="zh-CN" altLang="en-US" sz="3600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D203B2C-4DC9-6912-9051-DB24D3776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414" y="1430881"/>
            <a:ext cx="4291286" cy="625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实验对比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8D07BF0A-D33E-7CD3-AC7C-0C63D2E1B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14" y="2056612"/>
            <a:ext cx="9186400" cy="224868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69DE9CA-6752-823F-1BD1-01E8627F3838}"/>
              </a:ext>
            </a:extLst>
          </p:cNvPr>
          <p:cNvSpPr txBox="1"/>
          <p:nvPr/>
        </p:nvSpPr>
        <p:spPr>
          <a:xfrm>
            <a:off x="674414" y="4753646"/>
            <a:ext cx="7772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原因分析：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模型容量有限：</a:t>
            </a:r>
            <a:r>
              <a:rPr lang="en-US" altLang="zh-CN" dirty="0"/>
              <a:t>0.6</a:t>
            </a:r>
            <a:r>
              <a:rPr lang="en" altLang="zh-CN" dirty="0"/>
              <a:t>B</a:t>
            </a:r>
            <a:r>
              <a:rPr lang="zh-CN" altLang="en-US" dirty="0"/>
              <a:t>参数量化后信息损失明显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量化开销：小模型量化后 推理 反量化</a:t>
            </a:r>
            <a:r>
              <a:rPr lang="en" altLang="zh-CN" dirty="0"/>
              <a:t>overhead</a:t>
            </a:r>
            <a:r>
              <a:rPr lang="zh-CN" altLang="en-US" dirty="0"/>
              <a:t>大</a:t>
            </a:r>
          </a:p>
          <a:p>
            <a:r>
              <a:rPr lang="en-US" altLang="zh-CN" dirty="0"/>
              <a:t>3. </a:t>
            </a:r>
            <a:r>
              <a:rPr lang="en" altLang="zh-CN" dirty="0" err="1"/>
              <a:t>vLLM</a:t>
            </a:r>
            <a:r>
              <a:rPr lang="zh-CN" altLang="en-US" dirty="0"/>
              <a:t>优化好：</a:t>
            </a:r>
            <a:r>
              <a:rPr lang="en" altLang="zh-CN" dirty="0"/>
              <a:t>FP16</a:t>
            </a:r>
            <a:r>
              <a:rPr lang="zh-CN" altLang="en-US" dirty="0"/>
              <a:t>推理已足够高效结论：小模型保持</a:t>
            </a:r>
            <a:r>
              <a:rPr lang="en" altLang="zh-CN" dirty="0"/>
              <a:t>FP16</a:t>
            </a:r>
            <a:r>
              <a:rPr lang="zh-CN" altLang="en-US" dirty="0"/>
              <a:t>是最佳选择</a:t>
            </a:r>
          </a:p>
        </p:txBody>
      </p:sp>
    </p:spTree>
    <p:extLst>
      <p:ext uri="{BB962C8B-B14F-4D97-AF65-F5344CB8AC3E}">
        <p14:creationId xmlns:p14="http://schemas.microsoft.com/office/powerpoint/2010/main" val="2243602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3AF9-95EA-EF2B-0050-5FE6C71D1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形状, 矩形&#10;&#10;AI 生成的内容可能不正确。">
            <a:extLst>
              <a:ext uri="{FF2B5EF4-FFF2-40B4-BE49-F238E27FC236}">
                <a16:creationId xmlns:a16="http://schemas.microsoft.com/office/drawing/2014/main" id="{448C7728-DC9F-B296-356D-0F0ED170E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8" y="26642"/>
            <a:ext cx="11137378" cy="14042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7C4804F-2AFC-B001-B698-88CEB363CEA9}"/>
              </a:ext>
            </a:extLst>
          </p:cNvPr>
          <p:cNvSpPr txBox="1"/>
          <p:nvPr/>
        </p:nvSpPr>
        <p:spPr>
          <a:xfrm>
            <a:off x="674414" y="4647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/>
              <a:t>多索引</a:t>
            </a:r>
            <a:r>
              <a:rPr lang="en-US" altLang="zh-CN" sz="3600" b="1" dirty="0"/>
              <a:t>RAG</a:t>
            </a:r>
            <a:endParaRPr lang="zh-CN" altLang="en-US" sz="3600" b="1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65AE099-5271-5B2A-9C90-9F7F66EAD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314" y="5621049"/>
            <a:ext cx="4291286" cy="5333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6309F220-87BF-5CD6-7634-683CB39A7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414" y="1430881"/>
            <a:ext cx="4291286" cy="625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RAG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系统构架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D6FA6CDC-F72B-A933-2A4B-3DFEB1532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" y="2056613"/>
            <a:ext cx="7772400" cy="230054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0FE22DC-CD01-4E9F-424D-84C41EABBE4D}"/>
              </a:ext>
            </a:extLst>
          </p:cNvPr>
          <p:cNvSpPr txBox="1"/>
          <p:nvPr/>
        </p:nvSpPr>
        <p:spPr>
          <a:xfrm>
            <a:off x="577850" y="4546600"/>
            <a:ext cx="37577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关键优化</a:t>
            </a:r>
          </a:p>
          <a:p>
            <a:r>
              <a:rPr kumimoji="1" lang="en-US" altLang="zh-CN" dirty="0"/>
              <a:t>• </a:t>
            </a:r>
            <a:r>
              <a:rPr kumimoji="1" lang="zh-CN" altLang="en-US" dirty="0"/>
              <a:t>智能路由：根据关键词选择索引</a:t>
            </a:r>
          </a:p>
          <a:p>
            <a:r>
              <a:rPr kumimoji="1" lang="en-US" altLang="zh-CN" dirty="0"/>
              <a:t>• </a:t>
            </a:r>
            <a:r>
              <a:rPr kumimoji="1" lang="en" altLang="zh-CN" dirty="0"/>
              <a:t>Embedding</a:t>
            </a:r>
            <a:r>
              <a:rPr kumimoji="1" lang="zh-CN" altLang="en-US" dirty="0"/>
              <a:t>缓存：减少重复编码 </a:t>
            </a:r>
            <a:endParaRPr kumimoji="1" lang="en-US" altLang="zh-CN" dirty="0"/>
          </a:p>
          <a:p>
            <a:r>
              <a:rPr kumimoji="1" lang="en-US" altLang="zh-CN" dirty="0"/>
              <a:t>• </a:t>
            </a:r>
            <a:r>
              <a:rPr kumimoji="1" lang="zh-CN" altLang="en-US" dirty="0"/>
              <a:t>相似度阈值：</a:t>
            </a:r>
            <a:r>
              <a:rPr kumimoji="1" lang="en-US" altLang="zh-CN" dirty="0"/>
              <a:t>0.75</a:t>
            </a:r>
            <a:r>
              <a:rPr kumimoji="1" lang="zh-CN" altLang="en-US" dirty="0"/>
              <a:t>过滤低质量结果</a:t>
            </a:r>
          </a:p>
        </p:txBody>
      </p:sp>
    </p:spTree>
    <p:extLst>
      <p:ext uri="{BB962C8B-B14F-4D97-AF65-F5344CB8AC3E}">
        <p14:creationId xmlns:p14="http://schemas.microsoft.com/office/powerpoint/2010/main" val="1261815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15305-6D39-A8B3-364A-C214F20F2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形状, 矩形&#10;&#10;AI 生成的内容可能不正确。">
            <a:extLst>
              <a:ext uri="{FF2B5EF4-FFF2-40B4-BE49-F238E27FC236}">
                <a16:creationId xmlns:a16="http://schemas.microsoft.com/office/drawing/2014/main" id="{1A6B53E2-69A5-6D5A-2736-08E6052FB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8" y="26642"/>
            <a:ext cx="11137378" cy="14042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8ADCB2F-B265-8F3D-B4F5-1CF02F481DFF}"/>
              </a:ext>
            </a:extLst>
          </p:cNvPr>
          <p:cNvSpPr txBox="1"/>
          <p:nvPr/>
        </p:nvSpPr>
        <p:spPr>
          <a:xfrm>
            <a:off x="674414" y="4647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 err="1"/>
              <a:t>vLLM</a:t>
            </a:r>
            <a:r>
              <a:rPr lang="zh-CN" altLang="en-US" sz="3600" b="1" dirty="0"/>
              <a:t>推理优化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494841B-A9F7-0748-50FF-0B5081F9C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414" y="1430881"/>
            <a:ext cx="4291286" cy="625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b="1" dirty="0">
                <a:solidFill>
                  <a:srgbClr val="333333"/>
                </a:solidFill>
                <a:latin typeface="Arial" panose="020B0604020202020204" pitchFamily="34" charset="0"/>
              </a:rPr>
              <a:t>为什么选择</a:t>
            </a:r>
            <a:r>
              <a:rPr lang="en-US" altLang="zh-CN" sz="2400" b="1" dirty="0" err="1">
                <a:solidFill>
                  <a:srgbClr val="333333"/>
                </a:solidFill>
                <a:latin typeface="Arial" panose="020B0604020202020204" pitchFamily="34" charset="0"/>
              </a:rPr>
              <a:t>vLLM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0E11CF3C-64A1-FFA7-1469-142C24A87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19" y="1999821"/>
            <a:ext cx="7772400" cy="2307265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8FCFF77D-D16B-FCE7-C373-7B055FB20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19" y="4809707"/>
            <a:ext cx="7772400" cy="1860244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92ACB245-4973-8202-43D9-AF1DB82E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414" y="4307086"/>
            <a:ext cx="4291286" cy="5026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b="1" dirty="0">
                <a:solidFill>
                  <a:srgbClr val="333333"/>
                </a:solidFill>
                <a:latin typeface="Arial" panose="020B0604020202020204" pitchFamily="34" charset="0"/>
              </a:rPr>
              <a:t>关键配置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329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形状, 矩形&#10;&#10;AI 生成的内容可能不正确。">
            <a:extLst>
              <a:ext uri="{FF2B5EF4-FFF2-40B4-BE49-F238E27FC236}">
                <a16:creationId xmlns:a16="http://schemas.microsoft.com/office/drawing/2014/main" id="{A2E1A800-F8C9-D4D6-D667-7A4857198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8" y="85768"/>
            <a:ext cx="11137378" cy="140423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2133098-9935-AAA0-A3F3-E858796B57C4}"/>
              </a:ext>
            </a:extLst>
          </p:cNvPr>
          <p:cNvSpPr txBox="1"/>
          <p:nvPr/>
        </p:nvSpPr>
        <p:spPr>
          <a:xfrm>
            <a:off x="3048000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/>
              <a:t>谢谢大家！！！</a:t>
            </a:r>
            <a:endParaRPr lang="en-US" altLang="zh-CN" sz="3600" b="1" dirty="0"/>
          </a:p>
          <a:p>
            <a:pPr algn="ctr"/>
            <a:r>
              <a:rPr lang="en-US" altLang="zh-CN" sz="3600" b="1" dirty="0"/>
              <a:t>&amp;</a:t>
            </a:r>
            <a:r>
              <a:rPr lang="zh-CN" altLang="en-US" sz="3600" b="1" dirty="0"/>
              <a:t> 现场展示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8201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2772</TotalTime>
  <Words>298</Words>
  <Application>Microsoft Macintosh PowerPoint</Application>
  <PresentationFormat>宽屏</PresentationFormat>
  <Paragraphs>61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Junhao Zeng (student)</dc:creator>
  <cp:lastModifiedBy>Junhao Zeng (student)</cp:lastModifiedBy>
  <cp:revision>90</cp:revision>
  <dcterms:created xsi:type="dcterms:W3CDTF">2025-12-30T01:56:00Z</dcterms:created>
  <dcterms:modified xsi:type="dcterms:W3CDTF">2026-01-10T05:41:29Z</dcterms:modified>
</cp:coreProperties>
</file>